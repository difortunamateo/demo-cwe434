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9" r:id="rId5"/>
    <p:sldId id="310" r:id="rId6"/>
    <p:sldId id="315" r:id="rId7"/>
    <p:sldId id="316" r:id="rId8"/>
    <p:sldId id="318" r:id="rId9"/>
    <p:sldId id="319" r:id="rId10"/>
    <p:sldId id="311" r:id="rId11"/>
    <p:sldId id="317" r:id="rId12"/>
    <p:sldId id="312" r:id="rId13"/>
    <p:sldId id="314" r:id="rId14"/>
  </p:sldIdLst>
  <p:sldSz cx="12192000" cy="6858000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ombre del Punto" id="{B5B95F0C-5173-4023-9D0D-06A708917213}">
          <p14:sldIdLst>
            <p14:sldId id="259"/>
            <p14:sldId id="310"/>
            <p14:sldId id="315"/>
            <p14:sldId id="316"/>
            <p14:sldId id="318"/>
            <p14:sldId id="319"/>
            <p14:sldId id="311"/>
            <p14:sldId id="317"/>
            <p14:sldId id="312"/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1" dt="2026-08-25T23:03:07.938"/>
    <p1510:client id="{BDF9548F-85DB-45A1-C6CF-5F96576E35E0}" v="275" dt="2026-08-27T19:20:33.6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3" d="100"/>
          <a:sy n="113" d="100"/>
        </p:scale>
        <p:origin x="474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63A25-737D-45C4-8237-2D50875A0638}" type="datetimeFigureOut">
              <a:rPr lang="es-UY" smtClean="0"/>
              <a:t>27/8/2026</a:t>
            </a:fld>
            <a:endParaRPr lang="es-U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AE46B-1B9D-4E25-8FD8-0FC7AA498EC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3105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>
              <a:highlight>
                <a:srgbClr val="FFFFFF"/>
              </a:highlight>
              <a:latin typeface="Aptos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AE46B-1B9D-4E25-8FD8-0FC7AA498ECF}" type="slidenum">
              <a:rPr lang="es-UY" smtClean="0"/>
              <a:t>1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03216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971A7-4F62-46F2-B2B0-65AF80B25B4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068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3AC39-320E-FA87-8BD8-9FB206C43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5008C-6571-0749-49EE-72072DCC1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18C2E1-9DD4-F0A2-017B-81AF2354E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D8A7D-4087-CDAB-A710-D3149A7D6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971A7-4F62-46F2-B2B0-65AF80B25B4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963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Y" dirty="0"/>
              <a:t>Aquí se pone punto a </a:t>
            </a:r>
            <a:r>
              <a:rPr lang="es-UY" dirty="0" err="1"/>
              <a:t>punt</a:t>
            </a:r>
            <a:r>
              <a:rPr lang="es-UY"/>
              <a:t>o los detalles de la demo</a:t>
            </a:r>
            <a:endParaRPr lang="es-U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971A7-4F62-46F2-B2B0-65AF80B25B4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332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B7D77-251F-FB4C-17CA-2C7C84F58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3E01B-286C-AD8A-FC70-E175008E7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82A113-7BB0-A5BA-ECF5-A356F5996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3C485-7743-03C9-785D-DA4E76CE9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971A7-4F62-46F2-B2B0-65AF80B25B4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510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a de título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25799"/>
            <a:ext cx="9144000" cy="990216"/>
          </a:xfrm>
        </p:spPr>
        <p:txBody>
          <a:bodyPr anchor="b">
            <a:normAutofit/>
          </a:bodyPr>
          <a:lstStyle>
            <a:lvl1pPr algn="ctr">
              <a:defRPr sz="5000" baseline="0">
                <a:solidFill>
                  <a:schemeClr val="bg1"/>
                </a:solidFill>
                <a:latin typeface="Gill Sans" panose="020B0602020204020204" pitchFamily="34" charset="0"/>
                <a:ea typeface="Roboto" panose="02000000000000000000" pitchFamily="2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824705"/>
            <a:ext cx="9144000" cy="662152"/>
          </a:xfrm>
        </p:spPr>
        <p:txBody>
          <a:bodyPr>
            <a:noAutofit/>
          </a:bodyPr>
          <a:lstStyle>
            <a:lvl1pPr marL="0" indent="0" algn="ctr">
              <a:buNone/>
              <a:defRPr sz="2600" baseline="0">
                <a:solidFill>
                  <a:schemeClr val="bg1"/>
                </a:solidFill>
                <a:latin typeface="Gill Sans" panose="020B0602020204020204"/>
                <a:ea typeface="Roboto Light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590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301765"/>
            <a:ext cx="6802821" cy="2554013"/>
          </a:xfrm>
        </p:spPr>
        <p:txBody>
          <a:bodyPr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Gill Sans" panose="020B060202020402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1564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os objetos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5468AAE-DF5E-E2E9-084F-8217020E7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62" y="136525"/>
            <a:ext cx="11570275" cy="1040765"/>
          </a:xfrm>
        </p:spPr>
        <p:txBody>
          <a:bodyPr>
            <a:normAutofit/>
          </a:bodyPr>
          <a:lstStyle>
            <a:lvl1pPr>
              <a:defRPr sz="2800">
                <a:latin typeface="Gill Sans" panose="020B060202020402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46E2A41-5D30-D169-A124-067A7B3EA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0862" y="1268083"/>
            <a:ext cx="5581291" cy="4787660"/>
          </a:xfrm>
        </p:spPr>
        <p:txBody>
          <a:bodyPr/>
          <a:lstStyle>
            <a:lvl1pPr marL="0" indent="0">
              <a:buNone/>
              <a:defRPr sz="2800">
                <a:latin typeface="+mn-lt"/>
                <a:ea typeface="Roboto Light" panose="02000000000000000000" pitchFamily="2" charset="0"/>
              </a:defRPr>
            </a:lvl1pPr>
            <a:lvl2pPr marL="457200" indent="0">
              <a:buNone/>
              <a:defRPr sz="2400">
                <a:latin typeface="+mn-lt"/>
                <a:ea typeface="Roboto Light" panose="02000000000000000000" pitchFamily="2" charset="0"/>
              </a:defRPr>
            </a:lvl2pPr>
            <a:lvl3pPr marL="914400" indent="0">
              <a:buNone/>
              <a:defRPr lang="es-ES" sz="2000" kern="1200" dirty="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1371600" indent="0">
              <a:buNone/>
              <a:defRPr sz="1800">
                <a:latin typeface="+mn-lt"/>
                <a:ea typeface="Roboto Light" panose="02000000000000000000" pitchFamily="2" charset="0"/>
              </a:defRPr>
            </a:lvl4pPr>
            <a:lvl5pPr marL="1828800" indent="0">
              <a:buNone/>
              <a:defRPr sz="1600">
                <a:latin typeface="+mn-lt"/>
                <a:ea typeface="Roboto Light" panose="02000000000000000000" pitchFamily="2" charset="0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D77D754F-5ACE-EE71-27BE-A7D174031C37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970113" y="1268082"/>
            <a:ext cx="5911025" cy="4787661"/>
          </a:xfrm>
        </p:spPr>
        <p:txBody>
          <a:bodyPr/>
          <a:lstStyle>
            <a:lvl1pPr marL="0" indent="0">
              <a:buNone/>
              <a:defRPr sz="2800">
                <a:latin typeface="+mn-lt"/>
                <a:ea typeface="Roboto Light" panose="02000000000000000000" pitchFamily="2" charset="0"/>
              </a:defRPr>
            </a:lvl1pPr>
            <a:lvl2pPr marL="457200" indent="0">
              <a:buNone/>
              <a:defRPr sz="2400">
                <a:latin typeface="+mn-lt"/>
                <a:ea typeface="Roboto Light" panose="02000000000000000000" pitchFamily="2" charset="0"/>
              </a:defRPr>
            </a:lvl2pPr>
            <a:lvl3pPr marL="914400" indent="0">
              <a:buNone/>
              <a:defRPr lang="es-ES" sz="2000" kern="1200" dirty="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1371600" indent="0">
              <a:buNone/>
              <a:defRPr sz="1800">
                <a:latin typeface="+mn-lt"/>
                <a:ea typeface="Roboto Light" panose="02000000000000000000" pitchFamily="2" charset="0"/>
              </a:defRPr>
            </a:lvl4pPr>
            <a:lvl5pPr marL="1828800" indent="0">
              <a:buNone/>
              <a:defRPr sz="1600">
                <a:latin typeface="+mn-lt"/>
                <a:ea typeface="Roboto Light" panose="02000000000000000000" pitchFamily="2" charset="0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8" name="Date Placeholder 5">
            <a:extLst>
              <a:ext uri="{FF2B5EF4-FFF2-40B4-BE49-F238E27FC236}">
                <a16:creationId xmlns:a16="http://schemas.microsoft.com/office/drawing/2014/main" id="{85F0FBA1-852F-98E4-6AB3-5D09E746B21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10862" y="6356350"/>
            <a:ext cx="2743200" cy="365125"/>
          </a:xfrm>
        </p:spPr>
        <p:txBody>
          <a:bodyPr/>
          <a:lstStyle/>
          <a:p>
            <a:pPr>
              <a:defRPr/>
            </a:pPr>
            <a:fld id="{0694217E-8BC5-4DDC-A7B6-FA99388452D0}" type="datetimeFigureOut">
              <a:rPr lang="es-ES" smtClean="0"/>
              <a:pPr>
                <a:defRPr/>
              </a:pPr>
              <a:t>27/08/2026</a:t>
            </a:fld>
            <a:endParaRPr lang="es-ES"/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71A9AF1A-BE77-FC0C-92DF-5E52C4EC839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s-ES"/>
              <a:t>Desarrollo De Software Seguro</a:t>
            </a:r>
          </a:p>
        </p:txBody>
      </p:sp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4183B17B-0854-8B96-1177-1D2FCC3F676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37938" y="6356350"/>
            <a:ext cx="2743200" cy="365125"/>
          </a:xfrm>
        </p:spPr>
        <p:txBody>
          <a:bodyPr/>
          <a:lstStyle/>
          <a:p>
            <a:pPr>
              <a:defRPr/>
            </a:pPr>
            <a:fld id="{11DF6312-B1DF-40E8-9163-B4108E4D7ADA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224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Un objeto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5468AAE-DF5E-E2E9-084F-8217020E7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62" y="136525"/>
            <a:ext cx="11570275" cy="1040765"/>
          </a:xfrm>
        </p:spPr>
        <p:txBody>
          <a:bodyPr>
            <a:normAutofit/>
          </a:bodyPr>
          <a:lstStyle>
            <a:lvl1pPr>
              <a:defRPr sz="2800">
                <a:latin typeface="Gill Sans" panose="020B060202020402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ES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46E2A41-5D30-D169-A124-067A7B3EA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0862" y="1268083"/>
            <a:ext cx="11570275" cy="4804913"/>
          </a:xfrm>
        </p:spPr>
        <p:txBody>
          <a:bodyPr/>
          <a:lstStyle>
            <a:lvl1pPr marL="0" indent="0">
              <a:buNone/>
              <a:defRPr sz="2800">
                <a:latin typeface="+mn-lt"/>
                <a:ea typeface="Roboto Light" panose="02000000000000000000" pitchFamily="2" charset="0"/>
              </a:defRPr>
            </a:lvl1pPr>
            <a:lvl2pPr marL="457200" indent="0">
              <a:buNone/>
              <a:defRPr sz="2400">
                <a:latin typeface="+mn-lt"/>
                <a:ea typeface="Roboto Light" panose="02000000000000000000" pitchFamily="2" charset="0"/>
              </a:defRPr>
            </a:lvl2pPr>
            <a:lvl3pPr marL="914400" indent="0">
              <a:buNone/>
              <a:defRPr lang="es-ES" sz="2000" kern="1200" dirty="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1371600" indent="0">
              <a:buNone/>
              <a:defRPr sz="1800">
                <a:latin typeface="+mn-lt"/>
                <a:ea typeface="Roboto Light" panose="02000000000000000000" pitchFamily="2" charset="0"/>
              </a:defRPr>
            </a:lvl4pPr>
            <a:lvl5pPr marL="1828800" indent="0">
              <a:buNone/>
              <a:defRPr sz="1600">
                <a:latin typeface="+mn-lt"/>
                <a:ea typeface="Roboto Light" panose="02000000000000000000" pitchFamily="2" charset="0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"/>
          </a:p>
        </p:txBody>
      </p:sp>
      <p:sp>
        <p:nvSpPr>
          <p:cNvPr id="8" name="Date Placeholder 5">
            <a:extLst>
              <a:ext uri="{FF2B5EF4-FFF2-40B4-BE49-F238E27FC236}">
                <a16:creationId xmlns:a16="http://schemas.microsoft.com/office/drawing/2014/main" id="{85F0FBA1-852F-98E4-6AB3-5D09E746B21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10862" y="6356350"/>
            <a:ext cx="2743200" cy="365125"/>
          </a:xfrm>
        </p:spPr>
        <p:txBody>
          <a:bodyPr/>
          <a:lstStyle/>
          <a:p>
            <a:pPr>
              <a:defRPr/>
            </a:pPr>
            <a:fld id="{0694217E-8BC5-4DDC-A7B6-FA99388452D0}" type="datetimeFigureOut">
              <a:rPr lang="es-ES" smtClean="0"/>
              <a:pPr>
                <a:defRPr/>
              </a:pPr>
              <a:t>27/08/2026</a:t>
            </a:fld>
            <a:endParaRPr lang="es-ES"/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71A9AF1A-BE77-FC0C-92DF-5E52C4EC839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s-ES"/>
              <a:t>Desarrollo De Software Seguro</a:t>
            </a:r>
          </a:p>
        </p:txBody>
      </p:sp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4183B17B-0854-8B96-1177-1D2FCC3F676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37938" y="6356350"/>
            <a:ext cx="2743200" cy="365125"/>
          </a:xfrm>
        </p:spPr>
        <p:txBody>
          <a:bodyPr/>
          <a:lstStyle/>
          <a:p>
            <a:pPr>
              <a:defRPr/>
            </a:pPr>
            <a:fld id="{11DF6312-B1DF-40E8-9163-B4108E4D7ADA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226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el estilo de título del patrón</a:t>
            </a:r>
          </a:p>
        </p:txBody>
      </p:sp>
      <p:sp>
        <p:nvSpPr>
          <p:cNvPr id="102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Editar el estilo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694217E-8BC5-4DDC-A7B6-FA99388452D0}" type="datetimeFigureOut">
              <a:rPr lang="es-ES"/>
              <a:pPr>
                <a:defRPr/>
              </a:pPr>
              <a:t>27/08/2026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s-ES"/>
              <a:t>Desarrollo De Software Seguro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1DF6312-B1DF-40E8-9163-B4108E4D7AD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A6B1D93-CCC0-7B13-5A58-DBC61A4F7B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n-001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	</a:t>
            </a:r>
            <a:endParaRPr kumimoji="0" lang="es-ES" altLang="en-001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9E29807-E77B-1D69-A3C8-F430E07780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00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801" r:id="rId2"/>
    <p:sldLayoutId id="2147483807" r:id="rId3"/>
    <p:sldLayoutId id="2147483817" r:id="rId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Gill Sans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25799"/>
            <a:ext cx="9144000" cy="990216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lang="es-UY" noProof="0" dirty="0"/>
              <a:t>Desarrollo Seguro de Software</a:t>
            </a:r>
            <a:br>
              <a:rPr lang="es-UY" noProof="0" dirty="0"/>
            </a:br>
            <a:r>
              <a:rPr lang="es-UY" noProof="0" dirty="0"/>
              <a:t>CWE/SANS TOP 25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824705"/>
            <a:ext cx="9144000" cy="662152"/>
          </a:xfrm>
        </p:spPr>
        <p:txBody>
          <a:bodyPr/>
          <a:lstStyle/>
          <a:p>
            <a:r>
              <a:rPr lang="es-UY" noProof="0" dirty="0">
                <a:ea typeface="Roboto Light"/>
              </a:rPr>
              <a:t>CWE-434: </a:t>
            </a:r>
            <a:r>
              <a:rPr lang="es-UY">
                <a:ea typeface="Roboto Light"/>
              </a:rPr>
              <a:t>Unrestricted</a:t>
            </a:r>
            <a:r>
              <a:rPr lang="es-UY" noProof="0" dirty="0">
                <a:ea typeface="Roboto Light"/>
              </a:rPr>
              <a:t> </a:t>
            </a:r>
            <a:r>
              <a:rPr lang="es-UY" dirty="0">
                <a:ea typeface="Roboto Light"/>
              </a:rPr>
              <a:t>Upload</a:t>
            </a:r>
            <a:r>
              <a:rPr lang="es-UY" noProof="0" dirty="0">
                <a:ea typeface="Roboto Light"/>
              </a:rPr>
              <a:t> </a:t>
            </a:r>
            <a:r>
              <a:rPr lang="es-UY" noProof="0">
                <a:ea typeface="Roboto Light"/>
              </a:rPr>
              <a:t>of</a:t>
            </a:r>
            <a:r>
              <a:rPr lang="es-UY" noProof="0" dirty="0">
                <a:ea typeface="Roboto Light"/>
              </a:rPr>
              <a:t> File </a:t>
            </a:r>
            <a:r>
              <a:rPr lang="es-UY" noProof="0">
                <a:ea typeface="Roboto Light"/>
              </a:rPr>
              <a:t>with</a:t>
            </a:r>
            <a:r>
              <a:rPr lang="es-UY" noProof="0" dirty="0">
                <a:ea typeface="Roboto Light"/>
              </a:rPr>
              <a:t> </a:t>
            </a:r>
            <a:r>
              <a:rPr lang="es-UY" noProof="0">
                <a:ea typeface="Roboto Light"/>
              </a:rPr>
              <a:t>Dangerous</a:t>
            </a:r>
            <a:r>
              <a:rPr lang="es-UY" noProof="0" dirty="0">
                <a:ea typeface="Roboto Light"/>
              </a:rPr>
              <a:t> </a:t>
            </a:r>
            <a:r>
              <a:rPr lang="es-UY" noProof="0">
                <a:ea typeface="Roboto Light"/>
              </a:rPr>
              <a:t>Type</a:t>
            </a:r>
            <a:endParaRPr lang="es-UY" b="1" noProof="0">
              <a:ea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1135081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0B9B9-EDD3-C6F3-5573-66262FB8B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0F25AB-D1BC-1094-A8DE-1C9DC250B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7734" y="-852797"/>
            <a:ext cx="6802821" cy="2554013"/>
          </a:xfrm>
        </p:spPr>
        <p:txBody>
          <a:bodyPr/>
          <a:lstStyle/>
          <a:p>
            <a:r>
              <a:rPr lang="es-UY" dirty="0"/>
              <a:t>¿</a:t>
            </a:r>
            <a:r>
              <a:rPr lang="es-UY" noProof="0" dirty="0">
                <a:latin typeface="Gill Sans"/>
              </a:rPr>
              <a:t>En que consiste?</a:t>
            </a:r>
            <a:endParaRPr lang="es-UY" noProof="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BC3CEF9-B61A-F78F-1022-921D6CCE404B}"/>
              </a:ext>
            </a:extLst>
          </p:cNvPr>
          <p:cNvSpPr txBox="1"/>
          <p:nvPr/>
        </p:nvSpPr>
        <p:spPr>
          <a:xfrm>
            <a:off x="194733" y="1197563"/>
            <a:ext cx="7628467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UY" sz="1600" b="1" dirty="0">
                <a:solidFill>
                  <a:schemeClr val="bg1"/>
                </a:solidFill>
                <a:latin typeface="Gill Sans"/>
                <a:ea typeface="+mj-ea"/>
                <a:cs typeface="+mj-cs"/>
              </a:rPr>
              <a:t>El sistema permite subir </a:t>
            </a:r>
            <a:r>
              <a:rPr lang="es-UY" sz="1600" b="1">
                <a:solidFill>
                  <a:schemeClr val="bg1"/>
                </a:solidFill>
                <a:latin typeface="Gill Sans"/>
                <a:ea typeface="+mj-ea"/>
                <a:cs typeface="+mj-cs"/>
              </a:rPr>
              <a:t>cualquier archivo, sin importar el tipo que sea ni realizar </a:t>
            </a:r>
            <a:r>
              <a:rPr lang="es-UY" sz="1600" b="1" dirty="0">
                <a:solidFill>
                  <a:schemeClr val="bg1"/>
                </a:solidFill>
                <a:latin typeface="Gill Sans"/>
                <a:ea typeface="+mj-ea"/>
                <a:cs typeface="+mj-cs"/>
              </a:rPr>
              <a:t>ninguna validación. </a:t>
            </a:r>
          </a:p>
          <a:p>
            <a:pPr lvl="0"/>
            <a:endParaRPr lang="es-UY" sz="1600" b="1" dirty="0">
              <a:solidFill>
                <a:schemeClr val="bg1"/>
              </a:solidFill>
              <a:latin typeface="Gill Sans"/>
              <a:ea typeface="+mj-ea"/>
              <a:cs typeface="+mj-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Y" sz="1600" b="1" dirty="0">
                <a:solidFill>
                  <a:schemeClr val="bg1"/>
                </a:solidFill>
                <a:latin typeface="Gill Sans"/>
                <a:ea typeface="+mj-ea"/>
                <a:cs typeface="+mj-cs"/>
              </a:rPr>
              <a:t>El problema es que el servidor pueda interpretar ese arc</a:t>
            </a:r>
            <a:r>
              <a:rPr lang="es-UY" sz="1600" b="1">
                <a:solidFill>
                  <a:schemeClr val="bg1"/>
                </a:solidFill>
                <a:latin typeface="Gill Sans"/>
                <a:ea typeface="+mj-ea"/>
                <a:cs typeface="+mj-cs"/>
              </a:rPr>
              <a:t>hivo como código ejecutable.</a:t>
            </a:r>
          </a:p>
          <a:p>
            <a:pPr lvl="0"/>
            <a:r>
              <a:rPr lang="es-UY" sz="1600" b="1" dirty="0">
                <a:solidFill>
                  <a:schemeClr val="bg1"/>
                </a:solidFill>
                <a:latin typeface="Gill Sans"/>
                <a:ea typeface="+mj-ea"/>
                <a:cs typeface="+mj-cs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Y" sz="1600" b="1">
                <a:solidFill>
                  <a:schemeClr val="bg1"/>
                </a:solidFill>
                <a:latin typeface="Gill Sans"/>
                <a:ea typeface="+mj-ea"/>
                <a:cs typeface="+mj-cs"/>
              </a:rPr>
              <a:t>Si el archivo es tratado como código, un atacante podría lograr ejecutar instrucciones no autorizadas.</a:t>
            </a:r>
          </a:p>
          <a:p>
            <a:pPr lvl="0"/>
            <a:endParaRPr lang="es-UY" sz="1600" b="1" dirty="0">
              <a:solidFill>
                <a:schemeClr val="bg1"/>
              </a:solidFill>
              <a:latin typeface="Gill Sans"/>
              <a:ea typeface="+mj-ea"/>
              <a:cs typeface="+mj-cs"/>
            </a:endParaRPr>
          </a:p>
          <a:p>
            <a:endParaRPr lang="es-UY" sz="1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942ECD5-BECF-40B7-CB23-0CE90446B24A}"/>
              </a:ext>
            </a:extLst>
          </p:cNvPr>
          <p:cNvSpPr txBox="1"/>
          <p:nvPr/>
        </p:nvSpPr>
        <p:spPr>
          <a:xfrm>
            <a:off x="414867" y="3430714"/>
            <a:ext cx="6802821" cy="23391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UY" sz="1600" b="1" dirty="0">
                <a:solidFill>
                  <a:schemeClr val="bg1"/>
                </a:solidFill>
                <a:latin typeface="Gill Sans"/>
                <a:ea typeface="+mj-ea"/>
                <a:cs typeface="+mj-cs"/>
              </a:rPr>
              <a:t>Ejemplo: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UY" sz="1600" b="1" dirty="0">
                <a:solidFill>
                  <a:schemeClr val="bg1"/>
                </a:solidFill>
                <a:latin typeface="Gill Sans"/>
                <a:ea typeface="+mj-ea"/>
                <a:cs typeface="+mj-cs"/>
              </a:rPr>
              <a:t>Un servidor web puede interpretar archivos como .</a:t>
            </a:r>
            <a:r>
              <a:rPr lang="es-UY" sz="1600" b="1" dirty="0" err="1">
                <a:solidFill>
                  <a:schemeClr val="bg1"/>
                </a:solidFill>
                <a:latin typeface="Gill Sans"/>
                <a:ea typeface="+mj-ea"/>
                <a:cs typeface="+mj-cs"/>
              </a:rPr>
              <a:t>php</a:t>
            </a:r>
            <a:r>
              <a:rPr lang="es-UY" sz="1600" b="1" dirty="0">
                <a:solidFill>
                  <a:schemeClr val="bg1"/>
                </a:solidFill>
                <a:latin typeface="Gill Sans"/>
                <a:ea typeface="+mj-ea"/>
                <a:cs typeface="+mj-cs"/>
              </a:rPr>
              <a:t> como código ejecutable, aunque el sistema simplemente pretendiera almacenarlos.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UY" sz="1600" b="1" dirty="0">
              <a:solidFill>
                <a:schemeClr val="bg1"/>
              </a:solidFill>
              <a:latin typeface="Gill Sans"/>
              <a:ea typeface="+mj-ea"/>
              <a:cs typeface="+mj-cs"/>
            </a:endParaRPr>
          </a:p>
          <a:p>
            <a:endParaRPr lang="es-UY" sz="1600" b="1" dirty="0">
              <a:solidFill>
                <a:schemeClr val="bg1"/>
              </a:solidFill>
              <a:latin typeface="Gill Sans"/>
              <a:ea typeface="+mj-ea"/>
              <a:cs typeface="+mj-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UY" sz="1600" b="1" dirty="0">
              <a:solidFill>
                <a:schemeClr val="bg1"/>
              </a:solidFill>
              <a:latin typeface="Gill Sans"/>
              <a:ea typeface="+mj-ea"/>
              <a:cs typeface="+mj-cs"/>
            </a:endParaRPr>
          </a:p>
          <a:p>
            <a:r>
              <a:rPr lang="es-UY" sz="1600" b="1" dirty="0">
                <a:solidFill>
                  <a:schemeClr val="bg1"/>
                </a:solidFill>
                <a:latin typeface="Gill Sans"/>
                <a:ea typeface="+mj-ea"/>
                <a:cs typeface="+mj-cs"/>
              </a:rPr>
              <a:t>El problema no es simplemente "permitir subir archivos", sino permitir subir un archivo que el servidor puede interpretar como código.</a:t>
            </a:r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29368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11B46-E20F-122F-7AAE-A5825C55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773394-73EB-7C38-8726-902D3A7C6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7734" y="-852797"/>
            <a:ext cx="6802821" cy="2554013"/>
          </a:xfrm>
        </p:spPr>
        <p:txBody>
          <a:bodyPr/>
          <a:lstStyle/>
          <a:p>
            <a:r>
              <a:rPr lang="es-UY" noProof="0" dirty="0"/>
              <a:t>Consecuencias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CA2435F-A26C-32C2-D150-DFC87A22B10B}"/>
              </a:ext>
            </a:extLst>
          </p:cNvPr>
          <p:cNvSpPr txBox="1"/>
          <p:nvPr/>
        </p:nvSpPr>
        <p:spPr>
          <a:xfrm>
            <a:off x="194733" y="1197563"/>
            <a:ext cx="7628467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UY" sz="1600" b="1" dirty="0">
                <a:solidFill>
                  <a:schemeClr val="bg1"/>
                </a:solidFill>
                <a:latin typeface="Gill Sans"/>
                <a:ea typeface="+mj-ea"/>
                <a:cs typeface="+mj-cs"/>
              </a:rPr>
              <a:t>La principal consecuencia es la ejecución de código no autorizado</a:t>
            </a:r>
          </a:p>
          <a:p>
            <a:pPr lvl="0"/>
            <a:endParaRPr lang="es-UY" sz="1600" b="1" dirty="0">
              <a:solidFill>
                <a:schemeClr val="bg1"/>
              </a:solidFill>
              <a:latin typeface="Gill Sans"/>
              <a:ea typeface="+mj-ea"/>
              <a:cs typeface="+mj-cs"/>
            </a:endParaRPr>
          </a:p>
          <a:p>
            <a:pPr lvl="0"/>
            <a:endParaRPr lang="es-UY" sz="1600" b="1" dirty="0">
              <a:solidFill>
                <a:schemeClr val="bg1"/>
              </a:solidFill>
              <a:latin typeface="Gill Sans"/>
              <a:ea typeface="+mj-ea"/>
              <a:cs typeface="+mj-cs"/>
            </a:endParaRPr>
          </a:p>
          <a:p>
            <a:pPr lvl="0"/>
            <a:r>
              <a:rPr lang="es-UY" sz="1600" b="1" dirty="0">
                <a:solidFill>
                  <a:schemeClr val="bg1"/>
                </a:solidFill>
                <a:latin typeface="Gill Sans"/>
                <a:ea typeface="+mj-ea"/>
                <a:cs typeface="+mj-cs"/>
              </a:rPr>
              <a:t>Permite al atacante a través de una archivo malicioso: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UY" sz="1600" dirty="0">
                <a:solidFill>
                  <a:schemeClr val="bg1"/>
                </a:solidFill>
              </a:rPr>
              <a:t>Ejecutar comandos en el servidor.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UY" sz="1600" dirty="0">
                <a:solidFill>
                  <a:schemeClr val="bg1"/>
                </a:solidFill>
              </a:rPr>
              <a:t>Acceder o modificar información.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UY" sz="1600" dirty="0">
                <a:solidFill>
                  <a:schemeClr val="bg1"/>
                </a:solidFill>
              </a:rPr>
              <a:t>Comprometer otros componentes del sistema.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UY" sz="1600" dirty="0">
                <a:solidFill>
                  <a:schemeClr val="bg1"/>
                </a:solidFill>
              </a:rPr>
              <a:t>Escalar el ataque dependiendo de los privilegios del proceso.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UY" sz="16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UY" sz="16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UY" sz="1600" dirty="0">
              <a:solidFill>
                <a:schemeClr val="bg1"/>
              </a:solidFill>
            </a:endParaRPr>
          </a:p>
          <a:p>
            <a:pPr lvl="0"/>
            <a:endParaRPr lang="es-UY" sz="1600" dirty="0">
              <a:solidFill>
                <a:schemeClr val="bg1"/>
              </a:solidFill>
            </a:endParaRPr>
          </a:p>
          <a:p>
            <a:pPr lvl="0"/>
            <a:endParaRPr lang="es-UY" sz="1600" dirty="0">
              <a:solidFill>
                <a:schemeClr val="bg1"/>
              </a:solidFill>
            </a:endParaRPr>
          </a:p>
          <a:p>
            <a:r>
              <a:rPr lang="es-UY" sz="1600" dirty="0">
                <a:solidFill>
                  <a:schemeClr val="bg1"/>
                </a:solidFill>
              </a:rPr>
              <a:t>Esto ocurre especialmente en extensiones web server, donde tipos de archivos como </a:t>
            </a:r>
            <a:r>
              <a:rPr lang="es-UY" sz="1600" b="1" dirty="0">
                <a:solidFill>
                  <a:schemeClr val="bg1"/>
                </a:solidFill>
              </a:rPr>
              <a:t>.</a:t>
            </a:r>
            <a:r>
              <a:rPr lang="es-UY" sz="1600" b="1" dirty="0" err="1">
                <a:solidFill>
                  <a:schemeClr val="bg1"/>
                </a:solidFill>
              </a:rPr>
              <a:t>asp</a:t>
            </a:r>
            <a:r>
              <a:rPr lang="es-UY" sz="1600" b="1" dirty="0">
                <a:solidFill>
                  <a:schemeClr val="bg1"/>
                </a:solidFill>
              </a:rPr>
              <a:t> y .</a:t>
            </a:r>
            <a:r>
              <a:rPr lang="es-UY" sz="1600" b="1" dirty="0" err="1">
                <a:solidFill>
                  <a:schemeClr val="bg1"/>
                </a:solidFill>
              </a:rPr>
              <a:t>php</a:t>
            </a:r>
            <a:r>
              <a:rPr lang="es-UY" sz="1600" b="1" dirty="0">
                <a:solidFill>
                  <a:schemeClr val="bg1"/>
                </a:solidFill>
              </a:rPr>
              <a:t> son tratados como automáticamente ejecutables, aunque el sistema no permita la ejecución automática.</a:t>
            </a:r>
            <a:endParaRPr lang="es-UY" sz="1600" dirty="0">
              <a:solidFill>
                <a:schemeClr val="bg1"/>
              </a:solidFill>
            </a:endParaRPr>
          </a:p>
          <a:p>
            <a:pPr lvl="0"/>
            <a:endParaRPr lang="es-UY" sz="1600" dirty="0"/>
          </a:p>
          <a:p>
            <a:pPr lvl="0"/>
            <a:endParaRPr lang="es-UY" sz="1600" b="1" dirty="0">
              <a:solidFill>
                <a:schemeClr val="bg1"/>
              </a:solidFill>
              <a:latin typeface="Gill Sans"/>
              <a:ea typeface="+mj-ea"/>
              <a:cs typeface="+mj-cs"/>
            </a:endParaRPr>
          </a:p>
          <a:p>
            <a:endParaRPr lang="es-UY" sz="1600" dirty="0"/>
          </a:p>
        </p:txBody>
      </p:sp>
    </p:spTree>
    <p:extLst>
      <p:ext uri="{BB962C8B-B14F-4D97-AF65-F5344CB8AC3E}">
        <p14:creationId xmlns:p14="http://schemas.microsoft.com/office/powerpoint/2010/main" val="1610026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F6E12-8B72-99EA-90F3-E5D3D0022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1" y="-797035"/>
            <a:ext cx="7505554" cy="2554013"/>
          </a:xfrm>
        </p:spPr>
        <p:txBody>
          <a:bodyPr/>
          <a:lstStyle/>
          <a:p>
            <a:r>
              <a:rPr lang="es-UY" dirty="0"/>
              <a:t>Mitigaciones – Diseño y Arquitectura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A13AC-B797-BC01-2987-DFFC81DA6D5E}"/>
              </a:ext>
            </a:extLst>
          </p:cNvPr>
          <p:cNvSpPr txBox="1"/>
          <p:nvPr/>
        </p:nvSpPr>
        <p:spPr>
          <a:xfrm>
            <a:off x="241299" y="1192873"/>
            <a:ext cx="7505554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Y" sz="1600" dirty="0">
                <a:solidFill>
                  <a:schemeClr val="bg1"/>
                </a:solidFill>
              </a:rPr>
              <a:t>Reducir el riesgo desde el diseño:</a:t>
            </a:r>
          </a:p>
          <a:p>
            <a:endParaRPr lang="es-UY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Y" sz="1600" dirty="0">
                <a:solidFill>
                  <a:schemeClr val="bg1"/>
                </a:solidFill>
              </a:rPr>
              <a:t>Generar nombres de archivo , en lugar de tomar el nombre proporcionado por el usuario.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Y" sz="1600" dirty="0">
                <a:solidFill>
                  <a:schemeClr val="bg1"/>
                </a:solidFill>
              </a:rPr>
              <a:t>Almacenar los archivos fuera del Web Root cuando sea posible.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Y" sz="1600" dirty="0">
                <a:solidFill>
                  <a:schemeClr val="bg1"/>
                </a:solidFill>
              </a:rPr>
              <a:t>Definir un conjunto limitado de extensiones de archivos permitidas.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Y" sz="1600" dirty="0">
                <a:solidFill>
                  <a:schemeClr val="bg1"/>
                </a:solidFill>
              </a:rPr>
              <a:t>El sistema debe generar nombres de archivo únicamente con extensiones permitidas.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Y" sz="1600" dirty="0">
                <a:solidFill>
                  <a:schemeClr val="bg1"/>
                </a:solidFill>
              </a:rPr>
              <a:t>Repetir las validaciones de seguridad del lado del servidor, no solo del lado del cliente. </a:t>
            </a:r>
          </a:p>
          <a:p>
            <a:endParaRPr lang="es-UY" sz="1600" dirty="0">
              <a:solidFill>
                <a:schemeClr val="bg1"/>
              </a:solidFill>
            </a:endParaRPr>
          </a:p>
          <a:p>
            <a:endParaRPr lang="es-UY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UY" sz="1600" dirty="0">
              <a:solidFill>
                <a:schemeClr val="bg1"/>
              </a:solidFill>
            </a:endParaRPr>
          </a:p>
          <a:p>
            <a:endParaRPr lang="es-UY" sz="1600" dirty="0">
              <a:solidFill>
                <a:schemeClr val="bg1"/>
              </a:solidFill>
            </a:endParaRPr>
          </a:p>
          <a:p>
            <a:endParaRPr lang="es-UY" sz="1600" dirty="0">
              <a:solidFill>
                <a:schemeClr val="bg1"/>
              </a:solidFill>
            </a:endParaRPr>
          </a:p>
          <a:p>
            <a:r>
              <a:rPr lang="es-UY" sz="1600" dirty="0">
                <a:solidFill>
                  <a:schemeClr val="bg1"/>
                </a:solidFill>
              </a:rPr>
              <a:t>Objetivo:</a:t>
            </a:r>
          </a:p>
          <a:p>
            <a:r>
              <a:rPr lang="es-UY" sz="1600" dirty="0">
                <a:solidFill>
                  <a:schemeClr val="bg1"/>
                </a:solidFill>
              </a:rPr>
              <a:t>El usuario nunca debería controlar directamente cómo se almacena o interpreta el archivo.</a:t>
            </a:r>
          </a:p>
        </p:txBody>
      </p:sp>
    </p:spTree>
    <p:extLst>
      <p:ext uri="{BB962C8B-B14F-4D97-AF65-F5344CB8AC3E}">
        <p14:creationId xmlns:p14="http://schemas.microsoft.com/office/powerpoint/2010/main" val="369831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8EF6A-B823-19E4-9E44-E284C572B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5E9CC-70F0-A428-E408-2E1F457FF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1" y="-797035"/>
            <a:ext cx="7505554" cy="2554013"/>
          </a:xfrm>
        </p:spPr>
        <p:txBody>
          <a:bodyPr/>
          <a:lstStyle/>
          <a:p>
            <a:r>
              <a:rPr lang="es-UY" dirty="0"/>
              <a:t>Mitigaciones – Implementación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2EDE803-97A0-ED58-0DFF-AAF880C9F303}"/>
              </a:ext>
            </a:extLst>
          </p:cNvPr>
          <p:cNvSpPr txBox="1"/>
          <p:nvPr/>
        </p:nvSpPr>
        <p:spPr>
          <a:xfrm>
            <a:off x="241299" y="1192873"/>
            <a:ext cx="7505553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Y" sz="1600" dirty="0">
                <a:solidFill>
                  <a:schemeClr val="bg1"/>
                </a:solidFill>
              </a:rPr>
              <a:t>Input </a:t>
            </a:r>
            <a:r>
              <a:rPr lang="es-UY" sz="1600" dirty="0" err="1">
                <a:solidFill>
                  <a:schemeClr val="bg1"/>
                </a:solidFill>
              </a:rPr>
              <a:t>Validation</a:t>
            </a:r>
            <a:endParaRPr lang="es-UY" sz="16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UY" sz="1600" dirty="0">
                <a:solidFill>
                  <a:schemeClr val="bg1"/>
                </a:solidFill>
              </a:rPr>
              <a:t>Tratar todo input como potencialmente malicioso.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UY" sz="1600" dirty="0">
                <a:solidFill>
                  <a:schemeClr val="bg1"/>
                </a:solidFill>
              </a:rPr>
              <a:t>Aplicar </a:t>
            </a:r>
            <a:r>
              <a:rPr lang="en-US" sz="1600" dirty="0">
                <a:solidFill>
                  <a:schemeClr val="bg1"/>
                </a:solidFill>
              </a:rPr>
              <a:t>“</a:t>
            </a:r>
            <a:r>
              <a:rPr lang="es-UY" sz="1600" dirty="0" err="1">
                <a:solidFill>
                  <a:schemeClr val="bg1"/>
                </a:solidFill>
              </a:rPr>
              <a:t>Accept</a:t>
            </a:r>
            <a:r>
              <a:rPr lang="es-UY" sz="1600" dirty="0">
                <a:solidFill>
                  <a:schemeClr val="bg1"/>
                </a:solidFill>
              </a:rPr>
              <a:t> </a:t>
            </a:r>
            <a:r>
              <a:rPr lang="es-UY" sz="1600" dirty="0" err="1">
                <a:solidFill>
                  <a:schemeClr val="bg1"/>
                </a:solidFill>
              </a:rPr>
              <a:t>Known</a:t>
            </a:r>
            <a:r>
              <a:rPr lang="es-UY" sz="1600" dirty="0">
                <a:solidFill>
                  <a:schemeClr val="bg1"/>
                </a:solidFill>
              </a:rPr>
              <a:t> Good. “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UY" sz="1600" dirty="0">
                <a:solidFill>
                  <a:schemeClr val="bg1"/>
                </a:solidFill>
              </a:rPr>
              <a:t>Validar: Extensión, tipo de archivo, tamaño, nombre, sintaxis y estructura.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UY" sz="1600" dirty="0">
                <a:solidFill>
                  <a:schemeClr val="bg1"/>
                </a:solidFill>
              </a:rPr>
              <a:t>Limitar los nombres solo a caracteres alfanuméricos.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UY" sz="1600" dirty="0">
                <a:solidFill>
                  <a:schemeClr val="bg1"/>
                </a:solidFill>
              </a:rPr>
              <a:t>Asegurar que el archivo tenga una única extensión.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UY" sz="1600" dirty="0">
                <a:solidFill>
                  <a:schemeClr val="bg1"/>
                </a:solidFill>
              </a:rPr>
              <a:t>Considerar y hacer case-</a:t>
            </a:r>
            <a:r>
              <a:rPr lang="es-UY" sz="1600" dirty="0" err="1">
                <a:solidFill>
                  <a:schemeClr val="bg1"/>
                </a:solidFill>
              </a:rPr>
              <a:t>insensitive</a:t>
            </a:r>
            <a:r>
              <a:rPr lang="es-UY" sz="1600" dirty="0">
                <a:solidFill>
                  <a:schemeClr val="bg1"/>
                </a:solidFill>
              </a:rPr>
              <a:t> test  para las extensiones toleradas.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UY" sz="16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UY" sz="1600" dirty="0">
              <a:solidFill>
                <a:schemeClr val="bg1"/>
              </a:solidFill>
            </a:endParaRPr>
          </a:p>
          <a:p>
            <a:pPr lvl="0"/>
            <a:endParaRPr lang="es-UY" sz="1600" dirty="0">
              <a:solidFill>
                <a:schemeClr val="bg1"/>
              </a:solidFill>
            </a:endParaRPr>
          </a:p>
          <a:p>
            <a:pPr lvl="0"/>
            <a:r>
              <a:rPr lang="es-UY" sz="1600" dirty="0">
                <a:solidFill>
                  <a:schemeClr val="bg1"/>
                </a:solidFill>
              </a:rPr>
              <a:t>No hay que confiar en una única validación: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UY" sz="1600" dirty="0">
                <a:solidFill>
                  <a:schemeClr val="bg1"/>
                </a:solidFill>
              </a:rPr>
              <a:t>No depender únicamente del MIME </a:t>
            </a:r>
            <a:r>
              <a:rPr lang="es-UY" sz="1600" dirty="0" err="1">
                <a:solidFill>
                  <a:schemeClr val="bg1"/>
                </a:solidFill>
              </a:rPr>
              <a:t>type</a:t>
            </a:r>
            <a:r>
              <a:rPr lang="es-UY" sz="1600" dirty="0">
                <a:solidFill>
                  <a:schemeClr val="bg1"/>
                </a:solidFill>
              </a:rPr>
              <a:t> o de la extensión del archivo.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UY" sz="1600" dirty="0">
                <a:solidFill>
                  <a:schemeClr val="bg1"/>
                </a:solidFill>
              </a:rPr>
              <a:t>No depender únicamente de controles de tamaño o "</a:t>
            </a:r>
            <a:r>
              <a:rPr lang="es-UY" sz="1600" dirty="0" err="1">
                <a:solidFill>
                  <a:schemeClr val="bg1"/>
                </a:solidFill>
              </a:rPr>
              <a:t>sanity</a:t>
            </a:r>
            <a:r>
              <a:rPr lang="es-UY" sz="1600" dirty="0">
                <a:solidFill>
                  <a:schemeClr val="bg1"/>
                </a:solidFill>
              </a:rPr>
              <a:t> </a:t>
            </a:r>
            <a:r>
              <a:rPr lang="es-UY" sz="1600" dirty="0" err="1">
                <a:solidFill>
                  <a:schemeClr val="bg1"/>
                </a:solidFill>
              </a:rPr>
              <a:t>checks</a:t>
            </a:r>
            <a:r>
              <a:rPr lang="es-UY" sz="1600" dirty="0">
                <a:solidFill>
                  <a:schemeClr val="bg1"/>
                </a:solidFill>
              </a:rPr>
              <a:t>".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UY" sz="1600" dirty="0">
                <a:solidFill>
                  <a:schemeClr val="bg1"/>
                </a:solidFill>
              </a:rPr>
              <a:t>Un archivo aparentemente válido puede contener contenido malicioso oculto. </a:t>
            </a:r>
          </a:p>
          <a:p>
            <a:endParaRPr lang="es-UY" sz="1600" dirty="0">
              <a:solidFill>
                <a:schemeClr val="bg1"/>
              </a:solidFill>
            </a:endParaRPr>
          </a:p>
          <a:p>
            <a:endParaRPr lang="es-UY" sz="1600" dirty="0">
              <a:solidFill>
                <a:schemeClr val="bg1"/>
              </a:solidFill>
            </a:endParaRPr>
          </a:p>
          <a:p>
            <a:endParaRPr lang="es-UY" sz="1600" dirty="0">
              <a:solidFill>
                <a:schemeClr val="bg1"/>
              </a:solidFill>
            </a:endParaRPr>
          </a:p>
          <a:p>
            <a:r>
              <a:rPr lang="es-UY" sz="1600" dirty="0">
                <a:solidFill>
                  <a:schemeClr val="bg1"/>
                </a:solidFill>
              </a:rPr>
              <a:t>Objetivo:</a:t>
            </a:r>
          </a:p>
          <a:p>
            <a:r>
              <a:rPr lang="es-UY" sz="1600" dirty="0">
                <a:solidFill>
                  <a:schemeClr val="bg1"/>
                </a:solidFill>
              </a:rPr>
              <a:t>La validación debe comprobar qué es realmente el archivo, no solamente qué dice ser.</a:t>
            </a:r>
          </a:p>
        </p:txBody>
      </p:sp>
    </p:spTree>
    <p:extLst>
      <p:ext uri="{BB962C8B-B14F-4D97-AF65-F5344CB8AC3E}">
        <p14:creationId xmlns:p14="http://schemas.microsoft.com/office/powerpoint/2010/main" val="2810151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0DB1F-41B9-C8C6-7C2A-5E8DC9CE4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FC0794-66D4-E779-A15A-A42249ADB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-797035"/>
            <a:ext cx="7645251" cy="2554013"/>
          </a:xfrm>
        </p:spPr>
        <p:txBody>
          <a:bodyPr>
            <a:normAutofit/>
          </a:bodyPr>
          <a:lstStyle/>
          <a:p>
            <a:r>
              <a:rPr lang="es-UY" sz="2800" dirty="0"/>
              <a:t>Mitigaciones — Arquitectura, Diseño y Operación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790EA0-4C90-B5B6-1C45-8EFB18EF0BDA}"/>
              </a:ext>
            </a:extLst>
          </p:cNvPr>
          <p:cNvSpPr txBox="1"/>
          <p:nvPr/>
        </p:nvSpPr>
        <p:spPr>
          <a:xfrm>
            <a:off x="241299" y="1192873"/>
            <a:ext cx="750555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Y" sz="1600" dirty="0">
                <a:solidFill>
                  <a:schemeClr val="bg1"/>
                </a:solidFill>
              </a:rPr>
              <a:t>1.Environment </a:t>
            </a:r>
            <a:r>
              <a:rPr lang="es-UY" sz="1600" dirty="0" err="1">
                <a:solidFill>
                  <a:schemeClr val="bg1"/>
                </a:solidFill>
              </a:rPr>
              <a:t>Hardening</a:t>
            </a:r>
            <a:endParaRPr lang="es-UY" sz="1600" dirty="0">
              <a:solidFill>
                <a:schemeClr val="bg1"/>
              </a:solidFill>
            </a:endParaRPr>
          </a:p>
          <a:p>
            <a:r>
              <a:rPr lang="es-UY" sz="1600" dirty="0">
                <a:solidFill>
                  <a:schemeClr val="bg1"/>
                </a:solidFill>
              </a:rPr>
              <a:t>Ejecutar el código con los mínimos privilegios necesarios. </a:t>
            </a:r>
          </a:p>
          <a:p>
            <a:r>
              <a:rPr lang="es-UY" sz="1600" dirty="0">
                <a:solidFill>
                  <a:schemeClr val="bg1"/>
                </a:solidFill>
              </a:rPr>
              <a:t>Utilizar cuentas aisladas con permisos limitados para tareas específicas. </a:t>
            </a:r>
          </a:p>
          <a:p>
            <a:r>
              <a:rPr lang="es-UY" sz="1600" dirty="0">
                <a:solidFill>
                  <a:schemeClr val="bg1"/>
                </a:solidFill>
              </a:rPr>
              <a:t>Evitar ejecutar aplicaciones con privilegios elevados innecesarios. </a:t>
            </a:r>
          </a:p>
          <a:p>
            <a:r>
              <a:rPr lang="es-UY" sz="1600" dirty="0">
                <a:solidFill>
                  <a:schemeClr val="bg1"/>
                </a:solidFill>
              </a:rPr>
              <a:t>Si el ataque tiene éxito, esto limita el acceso del atacante al resto del sistema.</a:t>
            </a:r>
          </a:p>
          <a:p>
            <a:r>
              <a:rPr lang="es-UY" sz="1600" dirty="0">
                <a:solidFill>
                  <a:schemeClr val="bg1"/>
                </a:solidFill>
              </a:rPr>
              <a:t> </a:t>
            </a:r>
          </a:p>
          <a:p>
            <a:endParaRPr lang="es-UY" sz="1600" dirty="0">
              <a:solidFill>
                <a:schemeClr val="bg1"/>
              </a:solidFill>
            </a:endParaRPr>
          </a:p>
          <a:p>
            <a:endParaRPr lang="es-UY" sz="1600" dirty="0">
              <a:solidFill>
                <a:schemeClr val="bg1"/>
              </a:solidFill>
            </a:endParaRPr>
          </a:p>
          <a:p>
            <a:r>
              <a:rPr lang="es-UY" sz="1600" dirty="0">
                <a:solidFill>
                  <a:schemeClr val="bg1"/>
                </a:solidFill>
              </a:rPr>
              <a:t>2. Sandbox o  </a:t>
            </a:r>
            <a:r>
              <a:rPr lang="es-UY" sz="1600" dirty="0" err="1">
                <a:solidFill>
                  <a:schemeClr val="bg1"/>
                </a:solidFill>
              </a:rPr>
              <a:t>Jail</a:t>
            </a:r>
            <a:endParaRPr lang="es-UY" sz="1600" dirty="0">
              <a:solidFill>
                <a:schemeClr val="bg1"/>
              </a:solidFill>
            </a:endParaRPr>
          </a:p>
          <a:p>
            <a:r>
              <a:rPr lang="es-UY" sz="1600" dirty="0">
                <a:solidFill>
                  <a:schemeClr val="bg1"/>
                </a:solidFill>
              </a:rPr>
              <a:t>Ejecutar el código dentro de un entorno aislado. </a:t>
            </a:r>
          </a:p>
          <a:p>
            <a:r>
              <a:rPr lang="es-UY" sz="1600" dirty="0">
                <a:solidFill>
                  <a:schemeClr val="bg1"/>
                </a:solidFill>
              </a:rPr>
              <a:t>Restringir el Acceso a archivos, modificación de directorios y ejecución de comandos.</a:t>
            </a:r>
          </a:p>
          <a:p>
            <a:pPr lvl="1"/>
            <a:endParaRPr lang="es-UY" sz="1600" dirty="0">
              <a:solidFill>
                <a:schemeClr val="bg1"/>
              </a:solidFill>
            </a:endParaRPr>
          </a:p>
          <a:p>
            <a:pPr lvl="1"/>
            <a:endParaRPr lang="es-UY" sz="1600" dirty="0">
              <a:solidFill>
                <a:schemeClr val="bg1"/>
              </a:solidFill>
            </a:endParaRPr>
          </a:p>
          <a:p>
            <a:pPr lvl="1"/>
            <a:endParaRPr lang="es-UY" sz="1600" dirty="0">
              <a:solidFill>
                <a:schemeClr val="bg1"/>
              </a:solidFill>
            </a:endParaRPr>
          </a:p>
          <a:p>
            <a:pPr lvl="1"/>
            <a:r>
              <a:rPr lang="es-UY" sz="1600" dirty="0">
                <a:solidFill>
                  <a:schemeClr val="bg1"/>
                </a:solidFill>
              </a:rPr>
              <a:t> </a:t>
            </a:r>
          </a:p>
          <a:p>
            <a:r>
              <a:rPr lang="es-UY" sz="1600" dirty="0">
                <a:solidFill>
                  <a:schemeClr val="bg1"/>
                </a:solidFill>
              </a:rPr>
              <a:t>Objetivo</a:t>
            </a:r>
          </a:p>
          <a:p>
            <a:r>
              <a:rPr lang="es-UY" sz="1600" dirty="0">
                <a:solidFill>
                  <a:schemeClr val="bg1"/>
                </a:solidFill>
              </a:rPr>
              <a:t>Limitar el alcance del ataque si la ejecución de código llega a ocurrir.</a:t>
            </a:r>
          </a:p>
        </p:txBody>
      </p:sp>
    </p:spTree>
    <p:extLst>
      <p:ext uri="{BB962C8B-B14F-4D97-AF65-F5344CB8AC3E}">
        <p14:creationId xmlns:p14="http://schemas.microsoft.com/office/powerpoint/2010/main" val="2339449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420F16-FDCD-3DB4-C784-C52704810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noProof="0" dirty="0">
                <a:solidFill>
                  <a:srgbClr val="000000"/>
                </a:solidFill>
                <a:latin typeface="Gill Sans"/>
              </a:rPr>
              <a:t>CWE-434 – Unrestricted Upload of File with Dangerous Type</a:t>
            </a:r>
            <a:endParaRPr lang="es-UY" noProof="0" dirty="0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05151BF4-3DA4-86DE-D6DB-D328DD12A4E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98002096"/>
              </p:ext>
            </p:extLst>
          </p:nvPr>
        </p:nvGraphicFramePr>
        <p:xfrm>
          <a:off x="310861" y="1177290"/>
          <a:ext cx="11570275" cy="286512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771399">
                  <a:extLst>
                    <a:ext uri="{9D8B030D-6E8A-4147-A177-3AD203B41FA5}">
                      <a16:colId xmlns:a16="http://schemas.microsoft.com/office/drawing/2014/main" val="350637318"/>
                    </a:ext>
                  </a:extLst>
                </a:gridCol>
                <a:gridCol w="8798876">
                  <a:extLst>
                    <a:ext uri="{9D8B030D-6E8A-4147-A177-3AD203B41FA5}">
                      <a16:colId xmlns:a16="http://schemas.microsoft.com/office/drawing/2014/main" val="3645267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UY" noProof="0" dirty="0">
                          <a:latin typeface="Myriad Pro" panose="020B0503030403020204"/>
                        </a:rPr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Y" noProof="0" dirty="0">
                          <a:latin typeface="Myriad Pro"/>
                        </a:rPr>
                        <a:t>CWE-434: Unrestricted Upload of File with Dangerous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153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Y" noProof="0" dirty="0">
                          <a:latin typeface="Myriad Pro" panose="020B0503030403020204"/>
                        </a:rPr>
                        <a:t>Resumen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Y" noProof="0" dirty="0">
                          <a:latin typeface="Myriad Pro"/>
                        </a:rPr>
                        <a:t>El sistema permite subir o transferir archivos de tipo peligroso, que luego son procesados automáticamente dentro del entorno de la aplicación.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463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Y" noProof="0" dirty="0">
                          <a:latin typeface="Myriad Pro" panose="020B0503030403020204"/>
                        </a:rPr>
                        <a:t>Descripción extendida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Y" noProof="0" dirty="0">
                          <a:latin typeface="Myriad Pro"/>
                        </a:rPr>
                        <a:t>Ocurre cuando la aplicación no restringe qué tipo de archivo puede subir un usuario. Si ese archivo llega a una ubicación donde el servidor lo interpreta como código (por ejemplo un .php dentro del directorio público), el atacante logra ejecución de código arbitrario en el servidor.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09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Y" noProof="0" dirty="0">
                          <a:latin typeface="Myriad Pro" panose="020B0503030403020204"/>
                        </a:rPr>
                        <a:t>Forma de introducción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Y" noProof="0" dirty="0">
                          <a:latin typeface="Myriad Pro"/>
                        </a:rPr>
                        <a:t>Architecture and Design (omisión de un control de seguridad al diseñar la funcionalidad de carga de archivos) e Implementation (falta de validación al programarla).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878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Y" noProof="0" dirty="0">
                          <a:latin typeface="Myriad Pro" panose="020B0503030403020204"/>
                        </a:rPr>
                        <a:t>Mitigaciones potenciales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Y" noProof="0" dirty="0">
                          <a:latin typeface="Myriad Pro"/>
                        </a:rPr>
                        <a:t>Lista blanca de extensiones permitidas · validar el contenido real del archivo, no solo el nombre o el MIME declarado · generar un nombre de archivo nuevo en el servidor · almacenar fuera del web root · mínimo privilegio y sandboxing.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675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Y" noProof="0" dirty="0">
                          <a:latin typeface="Myriad Pro" panose="020B0503030403020204"/>
                        </a:rPr>
                        <a:t>Consecuencias comunes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Y" noProof="0" dirty="0">
                          <a:latin typeface="Myriad Pro"/>
                        </a:rPr>
                        <a:t>Ejecución de código no autorizado — compromete integridad, confidencialidad y disponibilidad del sistema.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341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Y" noProof="0" dirty="0">
                          <a:latin typeface="Myriad Pro" panose="020B0503030403020204"/>
                        </a:rPr>
                        <a:t>Plataformas aplicables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Y" noProof="0" dirty="0">
                          <a:latin typeface="Myriad Pro"/>
                        </a:rPr>
                        <a:t>No es específico de un lenguaje; frecuente en PHP, a veces en ASP.NET. Aplica sobre todo a servidores web.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609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525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1AD30-7925-1C81-C237-D8C6C3B93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Ejemplo práctico</a:t>
            </a:r>
          </a:p>
        </p:txBody>
      </p:sp>
    </p:spTree>
    <p:extLst>
      <p:ext uri="{BB962C8B-B14F-4D97-AF65-F5344CB8AC3E}">
        <p14:creationId xmlns:p14="http://schemas.microsoft.com/office/powerpoint/2010/main" val="3197928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7703-6A5C-8FE5-EEC1-BD95E0C9E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2400" noProof="0" dirty="0">
                <a:latin typeface="Gill Sans"/>
              </a:rPr>
              <a:t>CWE-434 – Unrestricted Upload of File with Dangerous Type</a:t>
            </a:r>
            <a:endParaRPr lang="es-UY" b="0" noProof="0" dirty="0">
              <a:latin typeface="Gill San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9E4BA-3685-53CE-FE72-DC093C46D1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0862" y="1207123"/>
            <a:ext cx="10417451" cy="4848620"/>
          </a:xfrm>
        </p:spPr>
        <p:txBody>
          <a:bodyPr anchor="ctr"/>
          <a:lstStyle/>
          <a:p>
            <a:r>
              <a:rPr lang="es-UY" b="1" noProof="0">
                <a:latin typeface="Myriad Pro"/>
                <a:ea typeface="Roboto Light"/>
              </a:rPr>
              <a:t>DEMO App "subir foto de perfil"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Y" sz="2400" noProof="0" dirty="0">
                <a:latin typeface="Myriad Pro"/>
                <a:ea typeface="Roboto Light"/>
              </a:rPr>
              <a:t>Versión vulnerable: sube cualquier archivo tal cual, sin validar tipo.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Y" sz="2400" noProof="0" dirty="0">
                <a:latin typeface="Myriad Pro"/>
                <a:ea typeface="Roboto Light"/>
              </a:rPr>
              <a:t>Subimos un "</a:t>
            </a:r>
            <a:r>
              <a:rPr lang="es-UY" sz="2400" noProof="0" dirty="0" err="1">
                <a:latin typeface="Myriad Pro"/>
                <a:ea typeface="Roboto Light"/>
              </a:rPr>
              <a:t>webshell</a:t>
            </a:r>
            <a:r>
              <a:rPr lang="es-UY" sz="2400" noProof="0" dirty="0">
                <a:latin typeface="Myriad Pro"/>
                <a:ea typeface="Roboto Light"/>
              </a:rPr>
              <a:t>" y lo ejecutamos: </a:t>
            </a:r>
            <a:r>
              <a:rPr lang="es-UY" sz="2400" dirty="0">
                <a:latin typeface="Myriad Pro"/>
                <a:ea typeface="Roboto Light"/>
                <a:cs typeface="+mn-lt"/>
              </a:rPr>
              <a:t>nos permite</a:t>
            </a:r>
            <a:r>
              <a:rPr lang="es-UY" sz="2400" dirty="0">
                <a:latin typeface="Myriad Pro"/>
                <a:ea typeface="Roboto Light"/>
                <a:cs typeface="Calibri"/>
              </a:rPr>
              <a:t> ejecutar código remotamente</a:t>
            </a:r>
            <a:r>
              <a:rPr lang="es-UY" sz="2400" dirty="0">
                <a:latin typeface="Myriad Pro"/>
                <a:ea typeface="Roboto Light"/>
              </a:rPr>
              <a:t>.</a:t>
            </a:r>
            <a:endParaRPr lang="es-UY" sz="2400" noProof="0" dirty="0">
              <a:latin typeface="Myriad Pro"/>
              <a:ea typeface="Roboto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Y" sz="2400" noProof="0" dirty="0">
                <a:latin typeface="Myriad Pro"/>
                <a:ea typeface="Roboto Light"/>
              </a:rPr>
              <a:t>Versión mitigada: el mismo intento (incluso renombrado a .</a:t>
            </a:r>
            <a:r>
              <a:rPr lang="es-UY" sz="2400" noProof="0" dirty="0" err="1">
                <a:latin typeface="Myriad Pro"/>
                <a:ea typeface="Roboto Light"/>
              </a:rPr>
              <a:t>jpg</a:t>
            </a:r>
            <a:r>
              <a:rPr lang="es-UY" sz="2400" noProof="0" dirty="0">
                <a:latin typeface="Myriad Pro"/>
                <a:ea typeface="Roboto Light"/>
              </a:rPr>
              <a:t>) es rechazado.</a:t>
            </a:r>
          </a:p>
          <a:p>
            <a:endParaRPr lang="es-UY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8AA514-F393-E5E4-259C-201A4E92A820}"/>
              </a:ext>
            </a:extLst>
          </p:cNvPr>
          <p:cNvSpPr txBox="1"/>
          <p:nvPr/>
        </p:nvSpPr>
        <p:spPr>
          <a:xfrm>
            <a:off x="310862" y="6352143"/>
            <a:ext cx="609372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UY" noProof="0" dirty="0">
                <a:latin typeface="Myriad Pro"/>
                <a:ea typeface="Roboto Light"/>
              </a:rPr>
              <a:t>Fuentes: demo-cwe434.zip</a:t>
            </a:r>
            <a:endParaRPr lang="es-UY" noProof="0" dirty="0"/>
          </a:p>
        </p:txBody>
      </p:sp>
    </p:spTree>
    <p:extLst>
      <p:ext uri="{BB962C8B-B14F-4D97-AF65-F5344CB8AC3E}">
        <p14:creationId xmlns:p14="http://schemas.microsoft.com/office/powerpoint/2010/main" val="1597753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06D29-1287-208D-9F23-9371B9EB5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553AB-9EF0-1B01-D4C8-737DD54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sz="2400" noProof="0" dirty="0">
                <a:latin typeface="Gill Sans"/>
              </a:rPr>
              <a:t>CWE-434 – Unrestricted Upload of File with Dangerous Type</a:t>
            </a:r>
            <a:endParaRPr lang="es-UY" b="0" noProof="0" dirty="0">
              <a:latin typeface="Gill San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7E48AD-067E-64AE-E77B-15D0BA83E9B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578193" y="1227442"/>
            <a:ext cx="7302945" cy="4828301"/>
          </a:xfrm>
        </p:spPr>
        <p:txBody>
          <a:bodyPr/>
          <a:lstStyle/>
          <a:p>
            <a:r>
              <a:rPr lang="es-UY" b="1">
                <a:ea typeface="Roboto Light"/>
              </a:rPr>
              <a:t>En resumen, para evitar CWE-434: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Y" dirty="0">
                <a:ea typeface="Roboto Light"/>
              </a:rPr>
              <a:t>Nunca confiar en el nombre, extensión o MIME que declara el </a:t>
            </a:r>
            <a:r>
              <a:rPr lang="es-UY">
                <a:ea typeface="Roboto Light"/>
              </a:rPr>
              <a:t>cliente - validar el contenido real del </a:t>
            </a:r>
            <a:r>
              <a:rPr lang="es-UY" dirty="0">
                <a:ea typeface="Roboto Light"/>
              </a:rPr>
              <a:t>archivo.</a:t>
            </a:r>
            <a:endParaRPr lang="es-UY" dirty="0">
              <a:ea typeface="Roboto Light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Y" dirty="0"/>
              <a:t>Generar el nombre del archivo en el servidor, nunca usar el que manda el usuario.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Y" dirty="0">
                <a:ea typeface="Roboto Light"/>
              </a:rPr>
              <a:t>Defensa en profundidad: validación + almacenamiento fuera del </a:t>
            </a:r>
            <a:r>
              <a:rPr lang="es-UY" dirty="0" err="1">
                <a:ea typeface="Roboto Light"/>
              </a:rPr>
              <a:t>root</a:t>
            </a:r>
            <a:r>
              <a:rPr lang="es-UY" dirty="0">
                <a:ea typeface="Roboto Light"/>
              </a:rPr>
              <a:t> + mínimo privilegio.</a:t>
            </a:r>
            <a:endParaRPr lang="es-UY" dirty="0">
              <a:ea typeface="Roboto Light"/>
              <a:cs typeface="Calibri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84339A09-DADD-9BA7-6271-ACF6C38FD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0862" y="1207123"/>
            <a:ext cx="3976011" cy="4848620"/>
          </a:xfrm>
        </p:spPr>
        <p:txBody>
          <a:bodyPr anchor="ctr"/>
          <a:lstStyle/>
          <a:p>
            <a:r>
              <a:rPr lang="es-UY" sz="2000" i="1" dirty="0">
                <a:ea typeface="Roboto Light"/>
                <a:cs typeface="Calibri"/>
              </a:rPr>
              <a:t>En la demo se vio en vivo: sin estas mitigaciones, subir un archivo bastó para lograr ejecución de comandos como </a:t>
            </a:r>
            <a:r>
              <a:rPr lang="es-UY" sz="2000" i="1" dirty="0" err="1">
                <a:ea typeface="Roboto Light"/>
                <a:cs typeface="Calibri"/>
              </a:rPr>
              <a:t>root</a:t>
            </a:r>
            <a:r>
              <a:rPr lang="es-UY" sz="2000" i="1" dirty="0">
                <a:ea typeface="Roboto Light"/>
                <a:cs typeface="Calibri"/>
              </a:rPr>
              <a:t>. Con ellas aplicadas, el mismo intento fue rechazado.</a:t>
            </a:r>
          </a:p>
        </p:txBody>
      </p:sp>
    </p:spTree>
    <p:extLst>
      <p:ext uri="{BB962C8B-B14F-4D97-AF65-F5344CB8AC3E}">
        <p14:creationId xmlns:p14="http://schemas.microsoft.com/office/powerpoint/2010/main" val="24483375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2.0-DSS-TEMPLATE SANS Top 25.pptx" id="{9CC88499-4DF2-4319-8A3D-BAF0512D9472}" vid="{B09C30F6-BB47-4EF6-A3FD-3F0DDC8E8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8CA2CDEE0E8F4CACF6B95D3EF4C3B3" ma:contentTypeVersion="10" ma:contentTypeDescription="Create a new document." ma:contentTypeScope="" ma:versionID="73cc914fdf7996e7a618a83ebac81fd4">
  <xsd:schema xmlns:xsd="http://www.w3.org/2001/XMLSchema" xmlns:xs="http://www.w3.org/2001/XMLSchema" xmlns:p="http://schemas.microsoft.com/office/2006/metadata/properties" xmlns:ns2="bd4eda2a-3846-448a-b7a7-16e4dd1728c0" xmlns:ns3="b515cc93-823d-49e8-800c-c05db2f17c28" targetNamespace="http://schemas.microsoft.com/office/2006/metadata/properties" ma:root="true" ma:fieldsID="ca03da4c0f32a0ae05fe5bd68ee5a7b2" ns2:_="" ns3:_="">
    <xsd:import namespace="bd4eda2a-3846-448a-b7a7-16e4dd1728c0"/>
    <xsd:import namespace="b515cc93-823d-49e8-800c-c05db2f17c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4eda2a-3846-448a-b7a7-16e4dd1728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765f979-277d-4bf9-9582-0bf89623a9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15cc93-823d-49e8-800c-c05db2f17c2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1af4886-9b19-465b-9e1f-37e13c7617fe}" ma:internalName="TaxCatchAll" ma:showField="CatchAllData" ma:web="b515cc93-823d-49e8-800c-c05db2f17c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515cc93-823d-49e8-800c-c05db2f17c28" xsi:nil="true"/>
    <lcf76f155ced4ddcb4097134ff3c332f xmlns="bd4eda2a-3846-448a-b7a7-16e4dd1728c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7F3C360-5A75-47F3-9C9D-34508B1338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7596A9-359D-4684-8B47-659099474E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4eda2a-3846-448a-b7a7-16e4dd1728c0"/>
    <ds:schemaRef ds:uri="b515cc93-823d-49e8-800c-c05db2f17c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2BA519C-7729-414F-A3E6-40E37993701E}">
  <ds:schemaRefs>
    <ds:schemaRef ds:uri="http://purl.org/dc/terms/"/>
    <ds:schemaRef ds:uri="http://schemas.microsoft.com/office/2006/documentManagement/types"/>
    <ds:schemaRef ds:uri="b515cc93-823d-49e8-800c-c05db2f17c28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purl.org/dc/elements/1.1/"/>
    <ds:schemaRef ds:uri="bd4eda2a-3846-448a-b7a7-16e4dd1728c0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2026 2.0-DSS-TEMPLATE SANS Top 25</Template>
  <TotalTime>98</TotalTime>
  <Words>599</Words>
  <Application>Microsoft Office PowerPoint</Application>
  <PresentationFormat>Panorámica</PresentationFormat>
  <Paragraphs>106</Paragraphs>
  <Slides>10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Desarrollo Seguro de Software CWE/SANS TOP 25</vt:lpstr>
      <vt:lpstr>¿En que consiste?</vt:lpstr>
      <vt:lpstr>Consecuencias</vt:lpstr>
      <vt:lpstr>Mitigaciones – Diseño y Arquitectura</vt:lpstr>
      <vt:lpstr>Mitigaciones – Implementación</vt:lpstr>
      <vt:lpstr>Mitigaciones — Arquitectura, Diseño y Operación</vt:lpstr>
      <vt:lpstr>CWE-434 – Unrestricted Upload of File with Dangerous Type</vt:lpstr>
      <vt:lpstr>Ejemplo práctico</vt:lpstr>
      <vt:lpstr>CWE-434 – Unrestricted Upload of File with Dangerous Type</vt:lpstr>
      <vt:lpstr>CWE-434 – Unrestricted Upload of File with Dangerous Type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CONSTANTINO LÓPEZ</dc:creator>
  <cp:lastModifiedBy>CONSTANTINO LÓPEZ</cp:lastModifiedBy>
  <cp:revision>50</cp:revision>
  <dcterms:created xsi:type="dcterms:W3CDTF">2026-08-25T14:03:00Z</dcterms:created>
  <dcterms:modified xsi:type="dcterms:W3CDTF">2026-08-27T19:20:43Z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0x0101006F8CA2CDEE0E8F4CACF6B95D3EF4C3B3</vt:lpwstr>
  </property>
  <property fmtid="{D5CDD505-2E9C-101B-9397-08002B2CF9AE}" pid="3" name="Area">
    <vt:lpwstr/>
  </property>
  <property fmtid="{D5CDD505-2E9C-101B-9397-08002B2CF9AE}" pid="4" name="xd_ProgID">
    <vt:lpwstr/>
  </property>
  <property fmtid="{D5CDD505-2E9C-101B-9397-08002B2CF9AE}" pid="5" name="MediaServiceImageTags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</Properties>
</file>